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0" r:id="rId2"/>
    <p:sldId id="279" r:id="rId3"/>
  </p:sldIdLst>
  <p:sldSz cx="1371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5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516"/>
    <p:restoredTop sz="94765"/>
  </p:normalViewPr>
  <p:slideViewPr>
    <p:cSldViewPr snapToGrid="0" showGuides="1">
      <p:cViewPr varScale="1">
        <p:scale>
          <a:sx n="81" d="100"/>
          <a:sy n="81" d="100"/>
        </p:scale>
        <p:origin x="736" y="176"/>
      </p:cViewPr>
      <p:guideLst>
        <p:guide orient="horz" pos="2880"/>
        <p:guide pos="25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496484"/>
            <a:ext cx="116586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03E4E-20D4-E849-A935-428C2784B4BC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366A-8904-014D-BBAE-9E9C4061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82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03E4E-20D4-E849-A935-428C2784B4BC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366A-8904-014D-BBAE-9E9C4061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8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2279653"/>
            <a:ext cx="1183005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6119286"/>
            <a:ext cx="1183005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03E4E-20D4-E849-A935-428C2784B4BC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366A-8904-014D-BBAE-9E9C4061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0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03E4E-20D4-E849-A935-428C2784B4BC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366A-8904-014D-BBAE-9E9C4061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26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86836"/>
            <a:ext cx="1183005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2241551"/>
            <a:ext cx="5802510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3340100"/>
            <a:ext cx="580251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6" y="2241551"/>
            <a:ext cx="58310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6" y="3340100"/>
            <a:ext cx="58310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03E4E-20D4-E849-A935-428C2784B4BC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366A-8904-014D-BBAE-9E9C4061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69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03E4E-20D4-E849-A935-428C2784B4BC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366A-8904-014D-BBAE-9E9C4061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2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03E4E-20D4-E849-A935-428C2784B4BC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366A-8904-014D-BBAE-9E9C4061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59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1316569"/>
            <a:ext cx="6943725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03E4E-20D4-E849-A935-428C2784B4BC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366A-8904-014D-BBAE-9E9C4061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32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1316569"/>
            <a:ext cx="6943725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03E4E-20D4-E849-A935-428C2784B4BC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366A-8904-014D-BBAE-9E9C4061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25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03E4E-20D4-E849-A935-428C2784B4BC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366A-8904-014D-BBAE-9E9C4061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10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486834"/>
            <a:ext cx="295751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486834"/>
            <a:ext cx="870108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03E4E-20D4-E849-A935-428C2784B4BC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C366A-8904-014D-BBAE-9E9C4061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65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486836"/>
            <a:ext cx="1183005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434167"/>
            <a:ext cx="118300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E03E4E-20D4-E849-A935-428C2784B4BC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8475136"/>
            <a:ext cx="46291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8475136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C366A-8904-014D-BBAE-9E9C4061F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44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8808E-2D6A-2ACB-A160-271BE1C00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1DB0BA-0FE5-D22D-3BC0-D6979037F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440926"/>
              </p:ext>
            </p:extLst>
          </p:nvPr>
        </p:nvGraphicFramePr>
        <p:xfrm>
          <a:off x="299544" y="218529"/>
          <a:ext cx="13116911" cy="8102109"/>
        </p:xfrm>
        <a:graphic>
          <a:graphicData uri="http://schemas.openxmlformats.org/drawingml/2006/table">
            <a:tbl>
              <a:tblPr/>
              <a:tblGrid>
                <a:gridCol w="3798737">
                  <a:extLst>
                    <a:ext uri="{9D8B030D-6E8A-4147-A177-3AD203B41FA5}">
                      <a16:colId xmlns:a16="http://schemas.microsoft.com/office/drawing/2014/main" val="3441039053"/>
                    </a:ext>
                  </a:extLst>
                </a:gridCol>
                <a:gridCol w="2081802">
                  <a:extLst>
                    <a:ext uri="{9D8B030D-6E8A-4147-A177-3AD203B41FA5}">
                      <a16:colId xmlns:a16="http://schemas.microsoft.com/office/drawing/2014/main" val="2099391088"/>
                    </a:ext>
                  </a:extLst>
                </a:gridCol>
                <a:gridCol w="7236372">
                  <a:extLst>
                    <a:ext uri="{9D8B030D-6E8A-4147-A177-3AD203B41FA5}">
                      <a16:colId xmlns:a16="http://schemas.microsoft.com/office/drawing/2014/main" val="1430233672"/>
                    </a:ext>
                  </a:extLst>
                </a:gridCol>
              </a:tblGrid>
              <a:tr h="2138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Problems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Loss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058185"/>
                  </a:ext>
                </a:extLst>
              </a:tr>
              <a:tr h="4635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Mach-Zehnder Modulator (MZM)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to 30 dB/cm (for Depleted PN-junction)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Rahim A, Hermans A, Wohlfeil B,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Petousi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D,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Kuyken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B, Van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Thourhout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D,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Baets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R. Taking silicon photonics modulators to a higher performance level: state-of-the-art and a review of new technologies. Advanced Photonics. 2021 Mar 1;3(2):024003-.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824999"/>
                  </a:ext>
                </a:extLst>
              </a:tr>
              <a:tr h="4635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Ring Resonator Add-Drop Filter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 dB (drop port)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Mirza A, Gloekler RE, Thompson J, Pasricha S,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Nikdsast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M. Experimental analysis of adiabatic silicon photonic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microring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resonators under process variations. IEEE Photonics Technology Letters. 2024 Jan 29;36(6):417-20.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444575"/>
                  </a:ext>
                </a:extLst>
              </a:tr>
              <a:tr h="21728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Dual-Ring Resonator Tunable Filter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785679"/>
                  </a:ext>
                </a:extLst>
              </a:tr>
              <a:tr h="4635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4-Channel WDM using Cascaded MZIs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0.45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 Q, Zheng S, Yan Z, Cheng G, Xu F, Li Q, Shen L. Silicon photonic flat-top WDM (de) multiplexer based on cascaded Mach-Zehnder interferometers for the 2 µm wavelength band. Optics Express. 2022 Jul 15;30(15):28232-41.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578374"/>
                  </a:ext>
                </a:extLst>
              </a:tr>
              <a:tr h="4635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 Tunable 1×4 Optical Switch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5.3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Ghanaatian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Z, Shafiee A,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Nikdast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M. Enhanced silicon photonic switch fabrics with variation-aware optimized Mach-Zehnder interferometers.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InSilicon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Photonics XX 2025 Mar 20 (Vol. 13371, pp. 45-51). SPIE.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069839"/>
                  </a:ext>
                </a:extLst>
              </a:tr>
              <a:tr h="5743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 Balanced Coherent Receiver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6.5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 W, Cao H, Xie J, Xiang Y, Chen T, Guo J, Li H, Yu Z, Dai D. Ultralow-LO-Power Silicon Photonic Coherent Receiver with Balanced Ge/Si Avalanche Photodiodes. ACS Photonics. 2025 Mar 11;12(4):1793-801.</a:t>
                      </a:r>
                    </a:p>
                  </a:txBody>
                  <a:tcPr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337632"/>
                  </a:ext>
                </a:extLst>
              </a:tr>
              <a:tr h="31373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 16-Channel AWG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Shen X, Li C, Zhao W, Li H, Shi Y, Dai D. Ultra‐Low‐Crosstalk Silicon Arrayed‐Waveguide Grating (De) multiplexer with 1.6‐nm Channel Spacing. Laser &amp; Photonics Reviews. 2024 Jan;18(1):2300617.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776830"/>
                  </a:ext>
                </a:extLst>
              </a:tr>
              <a:tr h="31373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 2×2 Thermo-Optic Switch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Zhang L, Yang T, Zhang E, Zhang S, Yang S, Yang X. Single-stage 2× 2 silicon thermo-optic switch with crosstalk&lt;− 35 dB over 40 nm and P</a:t>
                      </a:r>
                      <a:r>
                        <a:rPr lang="el-G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π&lt; 8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mW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021661"/>
                  </a:ext>
                </a:extLst>
              </a:tr>
              <a:tr h="31373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 Y-Branch Power Splitter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Zhang Y, Yang S, Lim AE, Lo GQ, Galland C, Baehr-Jones T, Hochberg M. A compact and low loss Y-junction for submicron silicon waveguide. Optics express. 2013 Jan 11;21(1):1310-6.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101043"/>
                  </a:ext>
                </a:extLst>
              </a:tr>
              <a:tr h="2537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 90-Degree Optical Hybrid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 dB</a:t>
                      </a:r>
                    </a:p>
                    <a:p>
                      <a:pPr algn="ctr">
                        <a:buNone/>
                      </a:pP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Chen Y, Xie X, Sun Y, Pan W, Yan L. Compact optical 90° hybrid based on a wedge-shaped 2× 4 MMI coupler and a 2× 2 MMI coupler on a thin-film lithium niobate platform. Optics Letters. 2024 Feb 20;49(5):1145-8.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614796"/>
                  </a:ext>
                </a:extLst>
              </a:tr>
              <a:tr h="3636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 Add-Drop Multiplexer (OADM)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same as Add-Drop MRR Filter.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086343"/>
                  </a:ext>
                </a:extLst>
              </a:tr>
              <a:tr h="4635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 Tunable Ring Resonator Bank (4 Rings)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0.08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Sunny F, Shafiee A, Charbonnier B,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Nikdast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M, Pasricha S. Comet: a cross-layer optimized optical phase-change main memory architecture. In2024 Design, Automation &amp; Test in Europe Conference &amp; Exhibition (DATE) 2024 Mar 25 (pp. 1-6). IEEE.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763497"/>
                  </a:ext>
                </a:extLst>
              </a:tr>
              <a:tr h="3636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 16-QAM Modulator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same as Add-Drop MRR Filter.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956689"/>
                  </a:ext>
                </a:extLst>
              </a:tr>
              <a:tr h="3195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 Wavelength Selective Switch (1×8)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5.56 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Cheng J, Zhang D, Zeng G, Zhou M, Ding Y, Yin Y. Low-loss and broadband 1× 8 thermo-optic selective switch using bent directional couplers. Results in Optics. 2025 Sep 12:100891.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296234"/>
                  </a:ext>
                </a:extLst>
              </a:tr>
              <a:tr h="31373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15. Grating Coupler Array (8 Channels)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Loss per GC : 8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Almeida D, Lourenço P, Fantoni A, Costa J, Vieira M. Grating coupler design for low-cost fabrication in amorphous silicon photonic integrated circuits.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InPhotonics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2024 Aug 23 (Vol. 11, No. 9, p. 783). MDPI.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308782"/>
                  </a:ext>
                </a:extLst>
              </a:tr>
              <a:tr h="2684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16. Integrated Balanced Photodetector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5528797"/>
                  </a:ext>
                </a:extLst>
              </a:tr>
              <a:tr h="3636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 </a:t>
                      </a:r>
                      <a:r>
                        <a:rPr lang="en-US" sz="14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Microring</a:t>
                      </a: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Modulator with Feedback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same as Add-Drop MRR Filter.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735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850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109FE-17F8-C4BD-18D1-EB1CF2242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8A1FDB-798A-5998-AB66-C0648B9C7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091861"/>
              </p:ext>
            </p:extLst>
          </p:nvPr>
        </p:nvGraphicFramePr>
        <p:xfrm>
          <a:off x="299544" y="218528"/>
          <a:ext cx="13116911" cy="1470744"/>
        </p:xfrm>
        <a:graphic>
          <a:graphicData uri="http://schemas.openxmlformats.org/drawingml/2006/table">
            <a:tbl>
              <a:tblPr/>
              <a:tblGrid>
                <a:gridCol w="3798737">
                  <a:extLst>
                    <a:ext uri="{9D8B030D-6E8A-4147-A177-3AD203B41FA5}">
                      <a16:colId xmlns:a16="http://schemas.microsoft.com/office/drawing/2014/main" val="3441039053"/>
                    </a:ext>
                  </a:extLst>
                </a:gridCol>
                <a:gridCol w="2081802">
                  <a:extLst>
                    <a:ext uri="{9D8B030D-6E8A-4147-A177-3AD203B41FA5}">
                      <a16:colId xmlns:a16="http://schemas.microsoft.com/office/drawing/2014/main" val="2099391088"/>
                    </a:ext>
                  </a:extLst>
                </a:gridCol>
                <a:gridCol w="7236372">
                  <a:extLst>
                    <a:ext uri="{9D8B030D-6E8A-4147-A177-3AD203B41FA5}">
                      <a16:colId xmlns:a16="http://schemas.microsoft.com/office/drawing/2014/main" val="1430233672"/>
                    </a:ext>
                  </a:extLst>
                </a:gridCol>
              </a:tblGrid>
              <a:tr h="1544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Problems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Loss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058185"/>
                  </a:ext>
                </a:extLst>
              </a:tr>
              <a:tr h="291832">
                <a:tc>
                  <a:txBody>
                    <a:bodyPr/>
                    <a:lstStyle/>
                    <a:p>
                      <a:pPr marL="0" marR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18. 2×2 Switch (PCM‑based)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Chen R, Fang Z, Froch JE, Xu P, Zheng J, Majumdar A. Broadband nonvolatile electrically controlled programmable units in silicon photonics. ACS Photonics. 2022 May 6;9(6):2142-50.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824999"/>
                  </a:ext>
                </a:extLst>
              </a:tr>
              <a:tr h="291832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19. 16 × 16 Switch Based on Dual-Ring-Assisted MZI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10.6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Guo Z, Lu L, Zhou L, Shen L, Chen J. 16× 16 silicon optical switch based on dual-ring-assisted Mach–Zehnder interferometers. Journal of Lightwave Technology. 2017 Sep 13;36(2):225-32.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444575"/>
                  </a:ext>
                </a:extLst>
              </a:tr>
              <a:tr h="291832">
                <a:tc>
                  <a:txBody>
                    <a:bodyPr/>
                    <a:lstStyle/>
                    <a:p>
                      <a:pPr marL="0" marR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20. optical delay line 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0.08 dB/m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Lee H, Chen T, Li J, Painter O, Vahala KJ. Ultra-low-loss optical delay line on a silicon chip. Nature communications. 2012 Jan;3(1):867.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78567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8A5106-5E90-95E5-B83B-D078C2D1E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088140"/>
              </p:ext>
            </p:extLst>
          </p:nvPr>
        </p:nvGraphicFramePr>
        <p:xfrm>
          <a:off x="299543" y="3651539"/>
          <a:ext cx="13116911" cy="4391214"/>
        </p:xfrm>
        <a:graphic>
          <a:graphicData uri="http://schemas.openxmlformats.org/drawingml/2006/table">
            <a:tbl>
              <a:tblPr/>
              <a:tblGrid>
                <a:gridCol w="3791194">
                  <a:extLst>
                    <a:ext uri="{9D8B030D-6E8A-4147-A177-3AD203B41FA5}">
                      <a16:colId xmlns:a16="http://schemas.microsoft.com/office/drawing/2014/main" val="3441039053"/>
                    </a:ext>
                  </a:extLst>
                </a:gridCol>
                <a:gridCol w="2089345">
                  <a:extLst>
                    <a:ext uri="{9D8B030D-6E8A-4147-A177-3AD203B41FA5}">
                      <a16:colId xmlns:a16="http://schemas.microsoft.com/office/drawing/2014/main" val="2099391088"/>
                    </a:ext>
                  </a:extLst>
                </a:gridCol>
                <a:gridCol w="7236372">
                  <a:extLst>
                    <a:ext uri="{9D8B030D-6E8A-4147-A177-3AD203B41FA5}">
                      <a16:colId xmlns:a16="http://schemas.microsoft.com/office/drawing/2014/main" val="1430233672"/>
                    </a:ext>
                  </a:extLst>
                </a:gridCol>
              </a:tblGrid>
              <a:tr h="1544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Components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Loss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058185"/>
                  </a:ext>
                </a:extLst>
              </a:tr>
              <a:tr h="291832">
                <a:tc>
                  <a:txBody>
                    <a:bodyPr/>
                    <a:lstStyle/>
                    <a:p>
                      <a:pPr marL="0" marR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Multimode Interference coupler (MMI) 1X2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Zhu Z, Zhong Y, Lin D, Tong X, Zhong Q, He J. Low-loss and broadband arbitrary ratios 1× 2 power splitter based on asymmetrically tapered multimode interference. Journal of Optics. 2024 May 21;26(7):075801.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824999"/>
                  </a:ext>
                </a:extLst>
              </a:tr>
              <a:tr h="2918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MMI 1X4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0.58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Hong S, Yoon J, Kim J, Kim JY, </a:t>
                      </a:r>
                      <a:r>
                        <a:rPr lang="en-US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Neseli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B, Yoon H, Park HH, Kurt H. Design of MMI-based 1x4 power splitters with optimized parabolic input and output ports on SOI platform. </a:t>
                      </a:r>
                      <a:r>
                        <a:rPr lang="en-US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InSilicon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Photonics XVIII 2023 Mar 13 (Vol. 12426, pp. 30-35). SPIE.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37915"/>
                  </a:ext>
                </a:extLst>
              </a:tr>
              <a:tr h="2918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Y-branch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Zhang Y, Yang S, Lim AE, Lo GQ, Galland C, Baehr-Jones T, Hochberg M. A compact and low loss Y-junction for submicron silicon waveguide. Optics express. 2013 Jan 11;21(1):1310-6.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444575"/>
                  </a:ext>
                </a:extLst>
              </a:tr>
              <a:tr h="2918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Directional Coupler (DC)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0.27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Lv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D, Wu L, Liu C, Li A, Wang R, Wu A. Broadband and low-loss silicon photonic directional coupler for signal power tapping on the 3 </a:t>
                      </a:r>
                      <a:r>
                        <a:rPr lang="el-G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μ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 soi waveguide platform. </a:t>
                      </a:r>
                      <a:r>
                        <a:rPr lang="en-US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InPhotonics</a:t>
                      </a: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2023 Jul 4 (Vol. 10, No. 7, p. 776). MDPI.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785679"/>
                  </a:ext>
                </a:extLst>
              </a:tr>
              <a:tr h="360499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Propagation in waveguides</a:t>
                      </a:r>
                    </a:p>
                    <a:p>
                      <a:pPr algn="l">
                        <a:buNone/>
                      </a:pP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 dB/cm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AIM Photonics, “Base passive photonic integrated circuit (PIC) process,” (2024).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578374"/>
                  </a:ext>
                </a:extLst>
              </a:tr>
              <a:tr h="291832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Phase Shifters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0.23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Ding F, Dai J, Chen Y, Zhu J, Jin Y, </a:t>
                      </a:r>
                      <a:r>
                        <a:rPr lang="en-US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Bozhevolnyi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SI. Broadband near-infrared metamaterial absorbers utilizing highly lossy metals. Scientific reports. 2016 Dec 21;6(1):39445.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069839"/>
                  </a:ext>
                </a:extLst>
              </a:tr>
              <a:tr h="3604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Bend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0.086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dB</a:t>
                      </a:r>
                    </a:p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Bending Radius = 1µm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Vlasov YA, McNab SJ. Losses in single-mode silicon-on-insulator strip waveguides and bends. Optics express. 2004 Apr 19;12(8):1622-31.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337632"/>
                  </a:ext>
                </a:extLst>
              </a:tr>
              <a:tr h="360499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Taper</a:t>
                      </a:r>
                    </a:p>
                    <a:p>
                      <a:pPr algn="l">
                        <a:buNone/>
                      </a:pP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0.016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Shen H, Fan L, Wang J, Wirth JC, Qi M. A taper to reduce the straight-to-bend transition loss in compact silicon waveguides. IEEE Photonics Technology Letters. 2010 May 24;22(15):1174-6.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776830"/>
                  </a:ext>
                </a:extLst>
              </a:tr>
              <a:tr h="437908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09252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Waveguide Crossing 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>
                        <a:buNone/>
                      </a:pP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 dB</a:t>
                      </a: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Lu W, Shi H, Ma C, Li Z, Zhu S, Wu Y, Tai R. Ultra-low loss SOI waveguide crossings designed by a hybrid global optimization based on deep learning. Optics Communications. 2024 Apr 1;556:130189.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7167" marR="17167" marT="8583" marB="8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02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319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1401</TotalTime>
  <Words>1281</Words>
  <Application>Microsoft Macintosh PowerPoint</Application>
  <PresentationFormat>Custom</PresentationFormat>
  <Paragraphs>92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Ghanaatianjobzari,Zahra</dc:creator>
  <cp:lastModifiedBy>Ghanaatianjobzari,Zahra</cp:lastModifiedBy>
  <cp:revision>41</cp:revision>
  <dcterms:created xsi:type="dcterms:W3CDTF">2025-10-26T03:42:59Z</dcterms:created>
  <dcterms:modified xsi:type="dcterms:W3CDTF">2025-10-29T18:08:40Z</dcterms:modified>
</cp:coreProperties>
</file>